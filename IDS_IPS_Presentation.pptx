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6576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36576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5" name="Shape 3"/>
          <p:cNvSpPr/>
          <p:nvPr/>
        </p:nvSpPr>
        <p:spPr>
          <a:xfrm>
            <a:off x="2194560" y="36576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6" name="Shape 4"/>
          <p:cNvSpPr/>
          <p:nvPr/>
        </p:nvSpPr>
        <p:spPr>
          <a:xfrm>
            <a:off x="3108960" y="36576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7" name="Shape 5"/>
          <p:cNvSpPr/>
          <p:nvPr/>
        </p:nvSpPr>
        <p:spPr>
          <a:xfrm>
            <a:off x="4023360" y="36576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8" name="Shape 6"/>
          <p:cNvSpPr/>
          <p:nvPr/>
        </p:nvSpPr>
        <p:spPr>
          <a:xfrm>
            <a:off x="4937760" y="36576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0" y="36576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10" name="Shape 8"/>
          <p:cNvSpPr/>
          <p:nvPr/>
        </p:nvSpPr>
        <p:spPr>
          <a:xfrm>
            <a:off x="6766560" y="36576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0" y="36576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36576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13" name="Shape 11"/>
          <p:cNvSpPr/>
          <p:nvPr/>
        </p:nvSpPr>
        <p:spPr>
          <a:xfrm>
            <a:off x="9509760" y="36576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24160" y="36576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15" name="Shape 13"/>
          <p:cNvSpPr/>
          <p:nvPr/>
        </p:nvSpPr>
        <p:spPr>
          <a:xfrm>
            <a:off x="11338560" y="36576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649224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17" name="Shape 15"/>
          <p:cNvSpPr/>
          <p:nvPr/>
        </p:nvSpPr>
        <p:spPr>
          <a:xfrm>
            <a:off x="1280160" y="649224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4560" y="649224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19" name="Shape 17"/>
          <p:cNvSpPr/>
          <p:nvPr/>
        </p:nvSpPr>
        <p:spPr>
          <a:xfrm>
            <a:off x="3108960" y="649224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20" name="Shape 18"/>
          <p:cNvSpPr/>
          <p:nvPr/>
        </p:nvSpPr>
        <p:spPr>
          <a:xfrm>
            <a:off x="4023360" y="649224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21" name="Shape 19"/>
          <p:cNvSpPr/>
          <p:nvPr/>
        </p:nvSpPr>
        <p:spPr>
          <a:xfrm>
            <a:off x="4937760" y="649224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22" name="Shape 20"/>
          <p:cNvSpPr/>
          <p:nvPr/>
        </p:nvSpPr>
        <p:spPr>
          <a:xfrm>
            <a:off x="5852160" y="649224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23" name="Shape 21"/>
          <p:cNvSpPr/>
          <p:nvPr/>
        </p:nvSpPr>
        <p:spPr>
          <a:xfrm>
            <a:off x="6766560" y="649224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24" name="Shape 22"/>
          <p:cNvSpPr/>
          <p:nvPr/>
        </p:nvSpPr>
        <p:spPr>
          <a:xfrm>
            <a:off x="7680960" y="649224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25" name="Shape 23"/>
          <p:cNvSpPr/>
          <p:nvPr/>
        </p:nvSpPr>
        <p:spPr>
          <a:xfrm>
            <a:off x="8595360" y="649224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26" name="Shape 24"/>
          <p:cNvSpPr/>
          <p:nvPr/>
        </p:nvSpPr>
        <p:spPr>
          <a:xfrm>
            <a:off x="9509760" y="649224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24160" y="649224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28" name="Shape 26"/>
          <p:cNvSpPr/>
          <p:nvPr/>
        </p:nvSpPr>
        <p:spPr>
          <a:xfrm>
            <a:off x="11338560" y="6492240"/>
            <a:ext cx="45720" cy="45720"/>
          </a:xfrm>
          <a:prstGeom prst="ellipse">
            <a:avLst/>
          </a:prstGeom>
          <a:solidFill>
            <a:srgbClr val="1F2A3D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 ·  COURSEWORK PRESENTATION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IDS/IPS</a:t>
            </a:r>
            <a:endParaRPr lang="en-US" sz="5400" dirty="0"/>
          </a:p>
        </p:txBody>
      </p:sp>
      <p:sp>
        <p:nvSpPr>
          <p:cNvPr id="31" name="Text 29"/>
          <p:cNvSpPr/>
          <p:nvPr/>
        </p:nvSpPr>
        <p:spPr>
          <a:xfrm>
            <a:off x="548640" y="3337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and Blocking Malicious Traffic </a:t>
            </a:r>
            <a:pPr indent="0" marL="0">
              <a:buNone/>
            </a:pPr>
            <a:r>
              <a:rPr lang="en-US" sz="22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Wire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48640" y="4069080"/>
            <a:ext cx="0" cy="822960"/>
          </a:xfrm>
          <a:prstGeom prst="line">
            <a:avLst/>
          </a:prstGeom>
          <a:noFill/>
          <a:ln w="19050">
            <a:solidFill>
              <a:srgbClr val="3B48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Snort, an inline packet-inspection engine, running against a live, self-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contained attacker → victim traffic path — with a real-time detect, then block, demo.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Today  ·  Student VM  ·  Snort Inline Bridge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E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82880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214884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networks need real-time detection and prevention, not just logging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80760" y="17830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E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0" y="182880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vs IPS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0" y="214884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conceptual difference — and why this project demonstrates both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E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325880" y="32461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356616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lab reproduces a real inline security appliance inside one VM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80760" y="32004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E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58000" y="32461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356616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custom Snort rules covering recon, DoS, web attacks, malware, brute force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E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325880" y="466344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98348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detected, then actively blocked, in real 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80760" y="4617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E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58000" y="466344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Next Steps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0" y="498348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proved, what's left for a production deployment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filter on ports and addresses. They cannot see that a permitted connection is carrying a port scan, a flood, or an injection payload. An IDS/IPS inspects the actual content and behavior of traffic crossing the wire — and, in prevention mode, can act on it in real time.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5943600" cy="7315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3657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65960" y="36576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report a rise in intrusion attempts year over year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5943600" cy="7315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45262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65960" y="45262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in threats hidden inside encrypted channels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394960"/>
            <a:ext cx="5943600" cy="7315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539496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965960" y="53949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large enterprises now run advanced IDS/IPS as a frontline control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1600200"/>
            <a:ext cx="4754880" cy="4434840"/>
          </a:xfrm>
          <a:prstGeom prst="rect">
            <a:avLst/>
          </a:prstGeom>
          <a:solidFill>
            <a:srgbClr val="121826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wire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69480" y="23317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means the traffic actually passes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 the inspection point 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copy, not a sample.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69480" y="3611880"/>
            <a:ext cx="384048" cy="384048"/>
          </a:xfrm>
          <a:prstGeom prst="ellipse">
            <a:avLst/>
          </a:prstGeom>
          <a:solidFill>
            <a:srgbClr val="263349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19" name="Text 17"/>
          <p:cNvSpPr/>
          <p:nvPr/>
        </p:nvSpPr>
        <p:spPr>
          <a:xfrm>
            <a:off x="7818120" y="36301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arrives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69480" y="4389120"/>
            <a:ext cx="384048" cy="384048"/>
          </a:xfrm>
          <a:prstGeom prst="ellipse">
            <a:avLst/>
          </a:prstGeom>
          <a:solidFill>
            <a:srgbClr val="263349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4389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22" name="Text 20"/>
          <p:cNvSpPr/>
          <p:nvPr/>
        </p:nvSpPr>
        <p:spPr>
          <a:xfrm>
            <a:off x="7818120" y="44074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against rules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69480" y="5166360"/>
            <a:ext cx="384048" cy="384048"/>
          </a:xfrm>
          <a:prstGeom prst="ellipse">
            <a:avLst/>
          </a:prstGeom>
          <a:solidFill>
            <a:srgbClr val="263349"/>
          </a:solidFill>
          <a:ln/>
        </p:spPr>
      </p:sp>
      <p:sp>
        <p:nvSpPr>
          <p:cNvPr id="24" name="Text 22"/>
          <p:cNvSpPr/>
          <p:nvPr/>
        </p:nvSpPr>
        <p:spPr>
          <a:xfrm>
            <a:off x="7269480" y="5166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25" name="Text 23"/>
          <p:cNvSpPr/>
          <p:nvPr/>
        </p:nvSpPr>
        <p:spPr>
          <a:xfrm>
            <a:off x="7818120" y="51846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pass or drop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69480" y="5623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industry IDS/IPS market &amp; threat reports, 2025–26 (Grand View Research; sector analyses).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IDS vs. IPS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805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3B485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IDS — Detection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Passively inspects a copy or a tap of traffic. Logs and alerts on matches. Traffic is never touched or delayed.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B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150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 of blocking legitimate traffic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150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deploy, safe to tune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B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150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already landed by the time you're alerted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5352" y="1600200"/>
            <a:ext cx="5212080" cy="4480560"/>
          </a:xfrm>
          <a:prstGeom prst="rect">
            <a:avLst/>
          </a:prstGeom>
          <a:solidFill>
            <a:srgbClr val="121826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65392" y="192024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7251192" y="1920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IPS — Prevention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65392" y="2606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inline, in the actual traffic path. Matching traffic can be dropped before it ever reaches the target.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65392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65392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is stopped in real time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65392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detection logic, active response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65392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65392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rule can block legitimate traffic — tuning matters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both modes with the same Snort engine and the same ruleset — only the rule action (alert vs. drop) changes.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Snort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is an open-source, signature-based network intrusion detection and prevention engine, first released in 1998 and still one of the most widely taught and deployed IDS/IPS tools in the industry.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560320" cy="320040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matching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rules match on headers, flags, content, and rate thresholds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64992" y="2743200"/>
            <a:ext cx="2560320" cy="320040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301752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93592" y="3657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(IPS) capable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93592" y="425196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afpacket DAQ, Snort bridges two interfaces and can drop packets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1344" y="2743200"/>
            <a:ext cx="2560320" cy="320040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55664" y="301752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9944" y="3657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Stateful inspection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9944" y="425196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TCP sessions so rules can match on established, in-flow traffic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97696" y="2743200"/>
            <a:ext cx="2560320" cy="320040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72016" y="301752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9272016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26296" y="3657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standard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26296" y="425196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extensible, and the reference point most commercial NGFW engines build 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VM, a Real Wire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inside the presenter's laptop VM using Linux network namespaces + veth pairs — no second VM, no dependency on conference Wi-Fi.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B2436"/>
          </a:solidFill>
          <a:ln w="12700">
            <a:solidFill>
              <a:srgbClr val="3B48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ns-attacker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10.0.0.1/24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· hping3 · curl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874520"/>
            <a:ext cx="2743200" cy="2468880"/>
          </a:xfrm>
          <a:prstGeom prst="roundRect">
            <a:avLst>
              <a:gd name="adj" fmla="val 2963"/>
            </a:avLst>
          </a:prstGeom>
          <a:solidFill>
            <a:srgbClr val="16324A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ns-ids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9160" y="246888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— inline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afpacket DAQ bridge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IP address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(invisible on the wire)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869680" y="219456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B2436"/>
          </a:solidFill>
          <a:ln w="12700">
            <a:solidFill>
              <a:srgbClr val="3B48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ns-victim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69680" y="27889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10.0.0.2/24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test server :80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1840" y="3108960"/>
            <a:ext cx="141732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3108960"/>
            <a:ext cx="141732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72491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veth-a ↔ veth-ida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452360" y="272491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veth-idv ↔ veth-v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0" y="4617720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92" dirty="0"/>
          </a:p>
        </p:txBody>
      </p:sp>
      <p:sp>
        <p:nvSpPr>
          <p:cNvPr id="20" name="Text 18"/>
          <p:cNvSpPr/>
          <p:nvPr/>
        </p:nvSpPr>
        <p:spPr>
          <a:xfrm>
            <a:off x="1417320" y="46177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— clean traffic forwarded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4617720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7178040" y="46177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— malicious traffic blocked (IPS mode)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physical concept as a real inline IPS appliance sitting between a router and a protected VLAN.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Custom Snort Rules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pair (alert / drop) shares the same match logic and SID — only the action changes between IDS and IPS phases of the demo.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0881360" cy="66751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49424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49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2148840"/>
            <a:ext cx="2377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2148840"/>
            <a:ext cx="54864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SYN / connect scan, ICMP ping sweep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09760" y="2148840"/>
            <a:ext cx="1737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B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1000001–1000003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10881360" cy="667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026664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26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926080"/>
            <a:ext cx="2377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Denial of Service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2926080"/>
            <a:ext cx="54864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flood, TCP SYN flood (rate thresholds)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09760" y="2926080"/>
            <a:ext cx="1737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B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1000010–1000011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0881360" cy="66751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3703320"/>
            <a:ext cx="2377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Attack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31920" y="3703320"/>
            <a:ext cx="54864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('OR 1=1, UNION SELECT), XSS probe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09760" y="3703320"/>
            <a:ext cx="1737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B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1000020–1000022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10881360" cy="667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4581144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581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4480560"/>
            <a:ext cx="2377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Malware Signature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4480560"/>
            <a:ext cx="54864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EICAR standard antivirus test string in payload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09760" y="4480560"/>
            <a:ext cx="1737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B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1000030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257800"/>
            <a:ext cx="10881360" cy="66751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5358384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63040" y="5257800"/>
            <a:ext cx="23774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Brute Force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31920" y="5257800"/>
            <a:ext cx="54864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rapid SSH connection attempts from one source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09760" y="5257800"/>
            <a:ext cx="1737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B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1000040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You're About to See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429000" cy="3108960"/>
          </a:xfrm>
          <a:prstGeom prst="rect">
            <a:avLst/>
          </a:prstGeom>
          <a:solidFill>
            <a:srgbClr val="121826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5146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wire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+ veth pairs come up; attacker and victim can't yet reach each other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2286000"/>
            <a:ext cx="3429000" cy="3108960"/>
          </a:xfrm>
          <a:prstGeom prst="rect">
            <a:avLst/>
          </a:prstGeom>
          <a:solidFill>
            <a:srgbClr val="121826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25146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26280" y="32918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Detect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37947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runs inline with alert-only rules; attacks succeed but every one is logged live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286000"/>
            <a:ext cx="3429000" cy="3108960"/>
          </a:xfrm>
          <a:prstGeom prst="rect">
            <a:avLst/>
          </a:prstGeom>
          <a:solidFill>
            <a:srgbClr val="121826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25146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29600" y="32918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Prevent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37947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to drop rules; the same attacks are launched again and are blocked on the wire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attack traffic is simulated / synthetic (or the industry-standard, harmless EICAR test string) — nothing here is real malware.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PHASE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Only (IDS Mode)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805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B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SCREEN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663440" cy="2743200"/>
          </a:xfrm>
          <a:prstGeom prst="rect">
            <a:avLst/>
          </a:prstGeom>
          <a:solidFill>
            <a:srgbClr val="0F14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bash scripts/03_run_ids_mode.sh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bash scripts/attack_demo.sh scan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[*] Nmap SYN scan against 10.0.0.2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[Snort] ** ALERT: RECON Nmap SYN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scan detected  sid:1000001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4663440" cy="2743200"/>
          </a:xfrm>
          <a:prstGeom prst="rect">
            <a:avLst/>
          </a:prstGeom>
          <a:solidFill>
            <a:srgbClr val="0F142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3172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bash scripts/03_run_ids_mode.sh
</a:t>
            </a:r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bash scripts/attack_demo.sh scan
</a:t>
            </a:r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[*] Nmap SYN scan against 10.0.0.2
</a:t>
            </a:r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[Snort] ** ALERT: RECON Nmap SYN
</a:t>
            </a:r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scan detected  sid:1000001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219456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is inline on the wire and inspecting every packet in both directions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26480" y="297180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 rule correctly matches the Nmap SYN-scan pattern (20+ SYNs / 10s)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26480" y="37490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rule action is alert, the packets are still forwarded — the scan completes normally on the attacker's side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26480" y="45262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2 (victim HTTP log) will show the request arrived — detection without prevention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PHASE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+ Prevention (IPS Mode)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4663440" cy="2743200"/>
          </a:xfrm>
          <a:prstGeom prst="rect">
            <a:avLst/>
          </a:prstGeom>
          <a:solidFill>
            <a:srgbClr val="0F1420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33172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bash scripts/04_run_ips_mode.sh
</a:t>
            </a:r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bash scripts/attack_demo.sh scan
</a:t>
            </a:r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[*] Nmap SYN scan against 10.0.0.2
</a:t>
            </a:r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[Snort] ** ALERT+DROP: RECON Nmap SYN
</a:t>
            </a:r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scan detected - BLOCKED sid:1000001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26480" y="219456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rule logic — only the action changed from alert to drop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26480" y="297180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Snort's inline verdict now discards the matching packets before they cross to veth-idv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26480" y="37490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2 (victim HTTP log) shows no new entry — the request never arrived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26480" y="45262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ICMP flood attack, ping replies visibly stop once the threshold trips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→ Block, Across Every Attack Class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881360" cy="420624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3246120"/>
                <a:gridCol w="324612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Nmap SYN scan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logged, scan completes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— scan stalls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ICMP flood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logged, pings continue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— pings stop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SYN flood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logged, packets 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— flood dropped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logged, HTTP 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— never reaches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EICAR signature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logged, HTTP 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— never reaches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brute force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B48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after 10th SYN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— further SYNs dropped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11887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Signature-based only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catch zero-day or heavily obfuscated attacks without matching anomaly-based tooling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5120640" cy="11887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Single-host lab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would run the IPS on a dedicated bridge/tap in front of a real VLAN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264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148840"/>
            <a:ext cx="5120640" cy="11887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anomaly detection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0" y="26517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Zeek or flow-based ML detection for behavior Snort's signatures miss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3566160"/>
            <a:ext cx="5120640" cy="11887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0B0F14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 alerting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40690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Snort alerts to a SIEM (Wazuh / ELK) for correlation and retention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Detected. Blocked.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live.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37947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signature-based Snort IDS/IPS, running inline on a self-contained virtual wire, catching reconnaissance, denial-of-service, web, malware-signature, and brute-force traffic — and stopping it before it reaches the target.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5120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2026-07-18T22:09:53Z</dcterms:created>
  <dcterms:modified xsi:type="dcterms:W3CDTF">2026-07-18T22:09:53Z</dcterms:modified>
</cp:coreProperties>
</file>